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3" r:id="rId5"/>
    <p:sldId id="267" r:id="rId6"/>
    <p:sldId id="264" r:id="rId7"/>
    <p:sldId id="270" r:id="rId8"/>
    <p:sldId id="283" r:id="rId9"/>
    <p:sldId id="257" r:id="rId10"/>
    <p:sldId id="258" r:id="rId11"/>
    <p:sldId id="259" r:id="rId12"/>
    <p:sldId id="261" r:id="rId13"/>
    <p:sldId id="260" r:id="rId14"/>
    <p:sldId id="262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5F45-84DA-946B-8E0F-79A00234D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66248-D8F1-7994-F2F1-2B80D0AC2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AA3CF-6DC2-9BD5-D7BB-D5305858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04E83-9241-84B6-704B-2495D013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29423-31CB-3D00-1F1C-507D0C49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2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5F44C-5AF2-9569-C7BE-258581F8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FC403-B2AE-E73C-EF43-8FA0FDB51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6BD10-8F62-57E8-7D91-CE1DFFAD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2CDFC-7BEE-6C3A-5FF2-2131E65C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C9AF8-0F4E-79B7-AF82-1BF431C3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3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08CF-FF08-5678-2A43-355F3F36B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5563C-70C7-4414-5519-F73CE27D1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EA343-299C-6243-722A-18C21907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29668-8046-1F66-472A-2F7C6700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585B2-6EC2-F8A7-E4DD-E9F55CF5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4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31010-894D-6A3A-D7B7-FB805F20B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A9D9B-C697-8EF3-ECAC-0F2CADBA4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5E1EF-6D53-AFCC-E46A-AECFEB12C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4AABA-7384-FA89-3890-D689BD32A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788C7-CD32-368C-4A9E-92F15B73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20D1C-4ED1-F085-9892-3C54228D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1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829F-FC1A-1EEE-07AC-5140D93C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1598A-8915-6762-6CAD-EA73E9D9E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9039F-623E-10B6-1174-137A1A703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F3BF6-FEB5-441F-820F-248D891CE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256F9-EB62-67BC-8F88-4E1629B95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36E77B-B90A-B4A5-40AA-F2845800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5EE06-DB0D-98BC-4EAA-6F5E66A1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99C78F-91F9-1FD1-0ACF-280EF006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7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7F2D-428B-15AC-0D34-10AEDDA6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01ED6-80F6-7FDF-E1D0-19C61B5AF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8596E-9ECC-0FC9-3E01-A0763F7A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07C1F-DFC6-63F1-D5E9-B3F5D2E9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6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722BB-751C-4E0F-8B3D-8496366A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F9729-8083-5D80-93C6-62DC8A9F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264DC-4B2A-08D4-DF58-3CAC14AD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7D8C-95F7-D255-9F00-2DD3BBBBF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FBC31-C056-833E-3C1E-E0486782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EF96-237B-8117-43CA-98C2D8B10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F6C99-57C8-67F2-FB14-AB2AFFF19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261E7-6B6D-8368-E683-91E1A038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4D556-2A81-2AD0-AAB8-B80E4570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4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CDB8-6804-42B2-35C6-876D62181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97D6C4-32EF-E7F3-609E-2CD7E2FE4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3FA12-F1AF-37CD-15D5-D52AA285E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8FC71-E416-BE07-134E-E4B039A3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CC690-687B-A0C5-6759-5AA9D55B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21CD9-7A80-4A99-7D3F-C65AED2D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F057-2395-E3F4-E735-792414900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2EBEC-C2A7-CBE8-ABA7-FA0CFFDC0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73203-BB23-7200-2C2A-3A6101D9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79F11-332E-7697-CCA6-5472463E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E0E73-34EA-ACA6-C85C-8DE866B9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0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507EB-75A4-3EA4-226B-F919CBA88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D42D3-547A-D3BB-ACCC-AB8AAE558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4F001-1D59-71A1-E396-D3423A7B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B82A-599E-8C1E-F03B-25E12B64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45126-B258-1326-4C4E-C8C195F2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6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9842E-B14E-124E-2157-9FC5EABD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37ECC-CA88-E5D1-854E-B2C6A20D7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01F62-C00B-D42C-1E25-583FB88E5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63867-D7ED-4B8A-AAF3-C3ADA59DB38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26109-C6E9-C664-4106-7867C332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100FF-6B72-7C1A-58A3-A5BA917F1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8F300-32C6-4968-85F1-49C6DB508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1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12B0-3C53-4932-35AF-CCE203004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Load Pull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34D47-2B2E-D669-9DE0-4428FFAD2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4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5193-47C6-BBBF-3931-65FE21597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want the app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B8F56-73CE-12DD-FB82-82D3B8AD2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Calibrate</a:t>
            </a:r>
          </a:p>
          <a:p>
            <a:pPr lvl="1"/>
            <a:r>
              <a:rPr lang="en-US" dirty="0"/>
              <a:t>Plot calibration as it runs</a:t>
            </a:r>
          </a:p>
          <a:p>
            <a:pPr lvl="1"/>
            <a:r>
              <a:rPr lang="en-US" dirty="0"/>
              <a:t>Plot verification</a:t>
            </a:r>
          </a:p>
          <a:p>
            <a:pPr lvl="1"/>
            <a:r>
              <a:rPr lang="en-US" dirty="0"/>
              <a:t>Save calibration data</a:t>
            </a:r>
          </a:p>
          <a:p>
            <a:pPr lvl="1"/>
            <a:r>
              <a:rPr lang="en-US" dirty="0" err="1"/>
              <a:t>Recal</a:t>
            </a:r>
            <a:r>
              <a:rPr lang="en-US" dirty="0"/>
              <a:t> </a:t>
            </a:r>
            <a:r>
              <a:rPr lang="en-US" dirty="0" err="1"/>
              <a:t>cal</a:t>
            </a:r>
            <a:r>
              <a:rPr lang="en-US" dirty="0"/>
              <a:t> data for pertinent tests</a:t>
            </a:r>
          </a:p>
          <a:p>
            <a:r>
              <a:rPr lang="en-US" dirty="0"/>
              <a:t>Collect data</a:t>
            </a:r>
          </a:p>
          <a:p>
            <a:pPr lvl="1"/>
            <a:r>
              <a:rPr lang="en-US" dirty="0"/>
              <a:t>Plot live data as tests run</a:t>
            </a:r>
          </a:p>
          <a:p>
            <a:pPr lvl="1"/>
            <a:r>
              <a:rPr lang="en-US" dirty="0"/>
              <a:t>Capability for warning/shut off if device fails to protect device</a:t>
            </a:r>
          </a:p>
          <a:p>
            <a:pPr lvl="1"/>
            <a:endParaRPr lang="en-US" dirty="0"/>
          </a:p>
          <a:p>
            <a:r>
              <a:rPr lang="en-US" dirty="0"/>
              <a:t>Plot data after the fact for comparison</a:t>
            </a:r>
          </a:p>
        </p:txBody>
      </p:sp>
    </p:spTree>
    <p:extLst>
      <p:ext uri="{BB962C8B-B14F-4D97-AF65-F5344CB8AC3E}">
        <p14:creationId xmlns:p14="http://schemas.microsoft.com/office/powerpoint/2010/main" val="151178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684D-5FD0-FF97-18A3-E54DCC7F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7E387-9B6B-4DAE-A372-7C73E8305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have </a:t>
            </a:r>
            <a:r>
              <a:rPr lang="en-US" dirty="0" err="1"/>
              <a:t>cal</a:t>
            </a:r>
            <a:r>
              <a:rPr lang="en-US" dirty="0"/>
              <a:t>, for power still valid for PA? (need to think about dynamic range)</a:t>
            </a:r>
          </a:p>
          <a:p>
            <a:pPr lvl="1"/>
            <a:r>
              <a:rPr lang="en-US" dirty="0"/>
              <a:t>How do I determine noise floor of receiver: they say -120 dBm but I think that the measurement environment is noisier than that so I don’t think that is true for this set up </a:t>
            </a:r>
          </a:p>
          <a:p>
            <a:pPr lvl="1"/>
            <a:r>
              <a:rPr lang="en-US" dirty="0"/>
              <a:t>-10dBm receiver saturation.</a:t>
            </a:r>
          </a:p>
          <a:p>
            <a:pPr lvl="1"/>
            <a:r>
              <a:rPr lang="en-US" dirty="0"/>
              <a:t>Ask Rhode: how to measure s22 of a PA</a:t>
            </a:r>
          </a:p>
          <a:p>
            <a:pPr lvl="1"/>
            <a:r>
              <a:rPr lang="en-US" dirty="0"/>
              <a:t> </a:t>
            </a:r>
          </a:p>
          <a:p>
            <a:r>
              <a:rPr lang="en-US" dirty="0"/>
              <a:t>Ask Brett for microscope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79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48BF-880B-6611-2BE7-26E7F55E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996F-B024-1F28-0496-E12A0C9A4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51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D6D2-186E-8D2A-2BB8-96F50BE0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1346-F082-B018-3A54-7E54B551E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Steps:</a:t>
            </a:r>
          </a:p>
          <a:p>
            <a:pPr lvl="1"/>
            <a:r>
              <a:rPr lang="en-US" dirty="0"/>
              <a:t>-calibrate: </a:t>
            </a:r>
          </a:p>
          <a:p>
            <a:r>
              <a:rPr lang="en-US" dirty="0"/>
              <a:t>Maps to a calibration key</a:t>
            </a:r>
          </a:p>
          <a:p>
            <a:r>
              <a:rPr lang="en-US" dirty="0"/>
              <a:t>Saves the </a:t>
            </a:r>
            <a:r>
              <a:rPr lang="en-US" dirty="0" err="1"/>
              <a:t>cal</a:t>
            </a:r>
            <a:r>
              <a:rPr lang="en-US" dirty="0"/>
              <a:t> key during the ‘save’ step to a </a:t>
            </a:r>
            <a:r>
              <a:rPr lang="en-US" dirty="0" err="1"/>
              <a:t>cal</a:t>
            </a:r>
            <a:r>
              <a:rPr lang="en-US" dirty="0"/>
              <a:t> file loaded to </a:t>
            </a:r>
            <a:r>
              <a:rPr lang="en-US" dirty="0" err="1"/>
              <a:t>cal_store</a:t>
            </a:r>
            <a:endParaRPr lang="en-US" dirty="0"/>
          </a:p>
          <a:p>
            <a:r>
              <a:rPr lang="en-US" dirty="0"/>
              <a:t>Calibrations are saved to the bench. Multiple </a:t>
            </a:r>
            <a:r>
              <a:rPr lang="en-US" dirty="0" err="1"/>
              <a:t>cal</a:t>
            </a:r>
            <a:r>
              <a:rPr lang="en-US" dirty="0"/>
              <a:t> tests could over write the same variable so make sure to be careful with naming scheme</a:t>
            </a:r>
          </a:p>
          <a:p>
            <a:r>
              <a:rPr lang="en-US" dirty="0"/>
              <a:t>To reference </a:t>
            </a:r>
            <a:r>
              <a:rPr lang="en-US" dirty="0" err="1"/>
              <a:t>cal</a:t>
            </a:r>
            <a:r>
              <a:rPr lang="en-US" dirty="0"/>
              <a:t> from other files use ${cal.&lt;name&gt;} in the step:</a:t>
            </a:r>
          </a:p>
          <a:p>
            <a:pPr lvl="1"/>
            <a:r>
              <a:rPr lang="en-US" dirty="0"/>
              <a:t>i.e. </a:t>
            </a:r>
          </a:p>
        </p:txBody>
      </p:sp>
    </p:spTree>
    <p:extLst>
      <p:ext uri="{BB962C8B-B14F-4D97-AF65-F5344CB8AC3E}">
        <p14:creationId xmlns:p14="http://schemas.microsoft.com/office/powerpoint/2010/main" val="87785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D530-8243-48DE-5BC8-4705EEAA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</a:t>
            </a:r>
            <a:r>
              <a:rPr lang="en-US" dirty="0" err="1"/>
              <a:t>cal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8F875-8CDB-52AB-05E6-8DA90AB446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Need:</a:t>
            </a:r>
          </a:p>
          <a:p>
            <a:pPr lvl="1"/>
            <a:r>
              <a:rPr lang="en-US" dirty="0"/>
              <a:t>Cal1.cal -&gt; outer reference</a:t>
            </a:r>
          </a:p>
          <a:p>
            <a:pPr lvl="1"/>
            <a:r>
              <a:rPr lang="en-US" dirty="0"/>
              <a:t>Cal2.cal -&gt; probe tip reference</a:t>
            </a:r>
          </a:p>
          <a:p>
            <a:pPr lvl="1"/>
            <a:r>
              <a:rPr lang="en-US" dirty="0"/>
              <a:t>PM.s1p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DFAE4-ED95-5C39-715E-BD502BA036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How to validate power </a:t>
            </a:r>
            <a:r>
              <a:rPr lang="en-US" dirty="0" err="1"/>
              <a:t>cal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Test once for constants. Rerun to validate:</a:t>
            </a:r>
          </a:p>
          <a:p>
            <a:pPr lvl="1"/>
            <a:r>
              <a:rPr lang="en-US" dirty="0"/>
              <a:t>Input power = coaxial – probe IL</a:t>
            </a:r>
          </a:p>
          <a:p>
            <a:pPr lvl="1"/>
            <a:r>
              <a:rPr lang="en-US" dirty="0"/>
              <a:t>Input power = output power + probe </a:t>
            </a:r>
            <a:r>
              <a:rPr lang="en-US" dirty="0" err="1"/>
              <a:t>cal</a:t>
            </a:r>
            <a:r>
              <a:rPr lang="en-US" dirty="0"/>
              <a:t> + thru loss (pretty much 0)</a:t>
            </a:r>
          </a:p>
          <a:p>
            <a:pPr lvl="1"/>
            <a:r>
              <a:rPr lang="en-US" dirty="0"/>
              <a:t>Input power = output power + tuner connection loss + power meter measurement</a:t>
            </a:r>
          </a:p>
        </p:txBody>
      </p:sp>
    </p:spTree>
    <p:extLst>
      <p:ext uri="{BB962C8B-B14F-4D97-AF65-F5344CB8AC3E}">
        <p14:creationId xmlns:p14="http://schemas.microsoft.com/office/powerpoint/2010/main" val="309745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EA65-A5C5-08EE-D0E9-D51BB8CC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Cal Steps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DD6D6-D791-EBC1-7F68-922AA5F9D9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SOLT </a:t>
            </a:r>
            <a:r>
              <a:rPr lang="en-US" dirty="0" err="1"/>
              <a:t>cal</a:t>
            </a:r>
            <a:r>
              <a:rPr lang="en-US" dirty="0"/>
              <a:t> output plane:</a:t>
            </a:r>
          </a:p>
          <a:p>
            <a:pPr lvl="1"/>
            <a:r>
              <a:rPr lang="en-US" dirty="0"/>
              <a:t>Save file to VNA</a:t>
            </a:r>
          </a:p>
          <a:p>
            <a:r>
              <a:rPr lang="en-US" dirty="0"/>
              <a:t>SOLT </a:t>
            </a:r>
            <a:r>
              <a:rPr lang="en-US" dirty="0" err="1"/>
              <a:t>cal</a:t>
            </a:r>
            <a:r>
              <a:rPr lang="en-US" dirty="0"/>
              <a:t> probe tip:</a:t>
            </a:r>
          </a:p>
          <a:p>
            <a:pPr lvl="1"/>
            <a:r>
              <a:rPr lang="en-US" dirty="0"/>
              <a:t>Save file VNA</a:t>
            </a:r>
          </a:p>
          <a:p>
            <a:r>
              <a:rPr lang="en-US" dirty="0"/>
              <a:t>Save S1p file for PM S11</a:t>
            </a:r>
          </a:p>
          <a:p>
            <a:r>
              <a:rPr lang="en-US" dirty="0"/>
              <a:t>Save/find s2p file for thru</a:t>
            </a:r>
          </a:p>
          <a:p>
            <a:r>
              <a:rPr lang="en-US" dirty="0"/>
              <a:t>Code:</a:t>
            </a:r>
          </a:p>
          <a:p>
            <a:pPr lvl="1"/>
            <a:r>
              <a:rPr lang="en-US" dirty="0"/>
              <a:t>Calibrate</a:t>
            </a:r>
          </a:p>
          <a:p>
            <a:pPr lvl="2"/>
            <a:r>
              <a:rPr lang="en-US" dirty="0"/>
              <a:t>Load outer plane </a:t>
            </a:r>
            <a:r>
              <a:rPr lang="en-US" dirty="0" err="1"/>
              <a:t>cal</a:t>
            </a:r>
            <a:endParaRPr lang="en-US" dirty="0"/>
          </a:p>
          <a:p>
            <a:pPr lvl="3"/>
            <a:r>
              <a:rPr lang="en-US" dirty="0"/>
              <a:t>Get error terms</a:t>
            </a:r>
          </a:p>
          <a:p>
            <a:pPr lvl="2"/>
            <a:r>
              <a:rPr lang="en-US" dirty="0"/>
              <a:t>Load inner plane </a:t>
            </a:r>
            <a:r>
              <a:rPr lang="en-US" dirty="0" err="1"/>
              <a:t>cal</a:t>
            </a:r>
            <a:endParaRPr lang="en-US" dirty="0"/>
          </a:p>
          <a:p>
            <a:pPr lvl="3"/>
            <a:r>
              <a:rPr lang="en-US" dirty="0"/>
              <a:t>Get error terms</a:t>
            </a:r>
          </a:p>
          <a:p>
            <a:pPr lvl="2"/>
            <a:r>
              <a:rPr lang="en-US" dirty="0"/>
              <a:t>Calculate output probe power</a:t>
            </a:r>
          </a:p>
          <a:p>
            <a:pPr lvl="2"/>
            <a:r>
              <a:rPr lang="en-US" dirty="0"/>
              <a:t>Calculate input probe power</a:t>
            </a:r>
          </a:p>
          <a:p>
            <a:pPr lvl="2"/>
            <a:r>
              <a:rPr lang="en-US" dirty="0"/>
              <a:t>Save a1^2 coupling to input power</a:t>
            </a:r>
          </a:p>
          <a:p>
            <a:pPr lvl="2"/>
            <a:r>
              <a:rPr lang="en-US" dirty="0"/>
              <a:t>Save b2^2 coupling to output power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5D824-CF59-6A65-44B1-C0A6258C56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34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A1DD-F9C2-63B3-9E5F-2173E630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814E3-C4ED-D36E-3DC0-B397A749C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Rhode Documentation says changing b2 attenuation invalidated calibration. Looking at validation, load impedance detection changes from -16dBm error to -7 dBm error. It is not my favorite thing obviously but it could be a possible path forward depending on if compression: I think this error </a:t>
            </a:r>
            <a:r>
              <a:rPr lang="en-US"/>
              <a:t>is worse.</a:t>
            </a:r>
          </a:p>
        </p:txBody>
      </p:sp>
    </p:spTree>
    <p:extLst>
      <p:ext uri="{BB962C8B-B14F-4D97-AF65-F5344CB8AC3E}">
        <p14:creationId xmlns:p14="http://schemas.microsoft.com/office/powerpoint/2010/main" val="230795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E3FB-E7A7-19F6-3044-85A233013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55B06-B445-36F8-74B3-1D7D19F5A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72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1F7C-8EF5-CDB9-31D6-93B89277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AB306-2E0C-4600-FE28-999174FD36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cd plotter </a:t>
            </a:r>
          </a:p>
          <a:p>
            <a:r>
              <a:rPr lang="en-US" dirty="0"/>
              <a:t>pip install -e . </a:t>
            </a:r>
          </a:p>
          <a:p>
            <a:r>
              <a:rPr lang="en-US" dirty="0" err="1"/>
              <a:t>lp</a:t>
            </a:r>
            <a:r>
              <a:rPr lang="en-US" dirty="0"/>
              <a:t>-plotter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C3080-D328-C391-77A9-69B9564F2A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34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47E2-9EC7-9CDA-6C17-2BDCACC8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3BA16-EE19-641F-059F-91C3449175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Hard coded in some spots right now to be in </a:t>
            </a:r>
            <a:r>
              <a:rPr lang="en-US" dirty="0" err="1"/>
              <a:t>reflown</a:t>
            </a:r>
            <a:r>
              <a:rPr lang="en-US" dirty="0"/>
              <a:t>/runs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C7F97-05C7-B6C3-9336-8923F381DC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54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DDC7-F338-5B0B-4C30-C0669664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A0855-B6C5-4E3A-ADC6-002D83CB6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13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2AC7-F8C4-E560-E94E-70BBCC63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Sqlite3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F5AF8-648B-62FA-0BC4-5128091678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open in visual studios:</a:t>
            </a:r>
          </a:p>
          <a:p>
            <a:pPr lvl="1"/>
            <a:r>
              <a:rPr lang="en-US" dirty="0"/>
              <a:t>Must have </a:t>
            </a:r>
            <a:r>
              <a:rPr lang="en-US" dirty="0" err="1"/>
              <a:t>sqlite</a:t>
            </a:r>
            <a:r>
              <a:rPr lang="en-US" dirty="0"/>
              <a:t> extension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searchbar</a:t>
            </a:r>
            <a:r>
              <a:rPr lang="en-US" dirty="0"/>
              <a:t> type:</a:t>
            </a:r>
          </a:p>
          <a:p>
            <a:pPr lvl="2"/>
            <a:r>
              <a:rPr lang="en-US" dirty="0"/>
              <a:t>&gt;</a:t>
            </a:r>
            <a:r>
              <a:rPr lang="en-US" dirty="0" err="1"/>
              <a:t>sqlite:open</a:t>
            </a:r>
            <a:r>
              <a:rPr lang="en-US" dirty="0"/>
              <a:t> database</a:t>
            </a:r>
          </a:p>
          <a:p>
            <a:r>
              <a:rPr lang="en-US" dirty="0"/>
              <a:t>If things are being weird -&gt; delete database and run populate_db.py</a:t>
            </a:r>
          </a:p>
          <a:p>
            <a:pPr lvl="1"/>
            <a:r>
              <a:rPr lang="en-US" dirty="0"/>
              <a:t>python -m </a:t>
            </a:r>
            <a:r>
              <a:rPr lang="en-US" dirty="0" err="1"/>
              <a:t>plotter.populate_db</a:t>
            </a:r>
            <a:r>
              <a:rPr lang="en-US" dirty="0"/>
              <a:t> --root plotter --</a:t>
            </a:r>
            <a:r>
              <a:rPr lang="en-US" dirty="0" err="1"/>
              <a:t>db</a:t>
            </a:r>
            <a:r>
              <a:rPr lang="en-US" dirty="0"/>
              <a:t> runs/</a:t>
            </a:r>
            <a:r>
              <a:rPr lang="en-US" dirty="0" err="1"/>
              <a:t>plotter_database.sqlite</a:t>
            </a:r>
            <a:endParaRPr lang="en-US" dirty="0"/>
          </a:p>
          <a:p>
            <a:pPr lvl="1"/>
            <a:r>
              <a:rPr lang="en-US" dirty="0"/>
              <a:t>Must be </a:t>
            </a:r>
            <a:r>
              <a:rPr lang="en-US" dirty="0" err="1"/>
              <a:t>frun</a:t>
            </a:r>
            <a:r>
              <a:rPr lang="en-US" dirty="0"/>
              <a:t> from \</a:t>
            </a:r>
            <a:r>
              <a:rPr lang="en-US" dirty="0" err="1"/>
              <a:t>reflown</a:t>
            </a:r>
            <a:r>
              <a:rPr lang="en-US" dirty="0"/>
              <a:t> not from \</a:t>
            </a:r>
            <a:r>
              <a:rPr lang="en-US" dirty="0" err="1"/>
              <a:t>reflown</a:t>
            </a:r>
            <a:r>
              <a:rPr lang="en-US" dirty="0"/>
              <a:t>\plotter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F0813-B5A4-A5EA-4A2B-D82316E66A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99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EA2B-9111-DC22-90A0-8121E220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Populate_dB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B532-09D2-DB3E-0806-E88EEBABD9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should be good one programs are set (do not touch test-types after final launch)</a:t>
            </a:r>
          </a:p>
          <a:p>
            <a:r>
              <a:rPr lang="en-US" dirty="0"/>
              <a:t>Populate loads the columns from the LAST test run under the name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C1A0A-2AA9-B57C-3634-6F717E0CF6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5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A375-90C7-624C-9A80-96903A85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AA234-C345-5C3F-4023-1640EA843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28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53E00E1-A141-EA81-16F1-B6440E681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Flowchart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2A547A1E-A3E0-27F2-1468-788E47AD0D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0500" y="0"/>
            <a:ext cx="673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09553CBE-87CC-3DF8-CEBF-0E8EE90582AB}"/>
              </a:ext>
            </a:extLst>
          </p:cNvPr>
          <p:cNvSpPr/>
          <p:nvPr/>
        </p:nvSpPr>
        <p:spPr>
          <a:xfrm>
            <a:off x="42366" y="3681239"/>
            <a:ext cx="1096466" cy="53707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Start</a:t>
            </a:r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B1BDF14B-A7FE-2FCF-A1D3-06AB67D8873C}"/>
              </a:ext>
            </a:extLst>
          </p:cNvPr>
          <p:cNvSpPr/>
          <p:nvPr/>
        </p:nvSpPr>
        <p:spPr>
          <a:xfrm>
            <a:off x="1547730" y="2834731"/>
            <a:ext cx="528718" cy="619699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Bench</a:t>
            </a:r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0FD376E5-6EC3-B041-ECC6-1FCD752E51CB}"/>
              </a:ext>
            </a:extLst>
          </p:cNvPr>
          <p:cNvSpPr/>
          <p:nvPr/>
        </p:nvSpPr>
        <p:spPr>
          <a:xfrm>
            <a:off x="6343660" y="2809301"/>
            <a:ext cx="528718" cy="619699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Test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1F00F3FE-A771-81D8-9315-46A0FF894D2A}"/>
              </a:ext>
            </a:extLst>
          </p:cNvPr>
          <p:cNvSpPr/>
          <p:nvPr/>
        </p:nvSpPr>
        <p:spPr>
          <a:xfrm>
            <a:off x="1220247" y="3639926"/>
            <a:ext cx="1183685" cy="6196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Session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7D308331-77DA-BFF4-0215-45682EADAB54}"/>
              </a:ext>
            </a:extLst>
          </p:cNvPr>
          <p:cNvSpPr/>
          <p:nvPr/>
        </p:nvSpPr>
        <p:spPr>
          <a:xfrm>
            <a:off x="2570766" y="3639926"/>
            <a:ext cx="1183685" cy="6196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Init </a:t>
            </a:r>
            <a:r>
              <a:rPr lang="en-US" sz="800" dirty="0" err="1"/>
              <a:t>JsonWriter</a:t>
            </a:r>
            <a:endParaRPr lang="en-US" sz="800" dirty="0"/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963963CC-C0C5-5074-5F29-F8A862C0C586}"/>
              </a:ext>
            </a:extLst>
          </p:cNvPr>
          <p:cNvSpPr/>
          <p:nvPr/>
        </p:nvSpPr>
        <p:spPr>
          <a:xfrm>
            <a:off x="2773942" y="2716299"/>
            <a:ext cx="777332" cy="73813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Plot?</a:t>
            </a:r>
          </a:p>
        </p:txBody>
      </p: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1CB85CD4-93D9-72C8-8A9E-0C14CDA84887}"/>
              </a:ext>
            </a:extLst>
          </p:cNvPr>
          <p:cNvSpPr/>
          <p:nvPr/>
        </p:nvSpPr>
        <p:spPr>
          <a:xfrm>
            <a:off x="3960181" y="3580710"/>
            <a:ext cx="777332" cy="73813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Cal?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949F8D37-3A35-0D4F-86FC-B0AA3F4B479F}"/>
              </a:ext>
            </a:extLst>
          </p:cNvPr>
          <p:cNvSpPr/>
          <p:nvPr/>
        </p:nvSpPr>
        <p:spPr>
          <a:xfrm>
            <a:off x="4899613" y="3639926"/>
            <a:ext cx="813378" cy="6196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Meta: </a:t>
            </a:r>
            <a:r>
              <a:rPr lang="en-US" sz="800" dirty="0" err="1"/>
              <a:t>benchtype</a:t>
            </a:r>
            <a:r>
              <a:rPr lang="en-US" sz="800" dirty="0"/>
              <a:t>, instruments </a:t>
            </a:r>
            <a:r>
              <a:rPr lang="en-US" sz="800" dirty="0" err="1"/>
              <a:t>etc</a:t>
            </a:r>
            <a:endParaRPr lang="en-US" sz="800" dirty="0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54BAC173-C015-0491-6427-2353302C55BD}"/>
              </a:ext>
            </a:extLst>
          </p:cNvPr>
          <p:cNvSpPr/>
          <p:nvPr/>
        </p:nvSpPr>
        <p:spPr>
          <a:xfrm>
            <a:off x="5843778" y="3639926"/>
            <a:ext cx="1528482" cy="6196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Sequence: Initialize, Load env params load run actions</a:t>
            </a:r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00555CB1-4D4E-664D-6487-797BF891B801}"/>
              </a:ext>
            </a:extLst>
          </p:cNvPr>
          <p:cNvSpPr/>
          <p:nvPr/>
        </p:nvSpPr>
        <p:spPr>
          <a:xfrm>
            <a:off x="7559337" y="3580710"/>
            <a:ext cx="1060491" cy="73813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Action Type?</a:t>
            </a:r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93B574E2-1092-E573-8C72-364B540EBB4F}"/>
              </a:ext>
            </a:extLst>
          </p:cNvPr>
          <p:cNvSpPr/>
          <p:nvPr/>
        </p:nvSpPr>
        <p:spPr>
          <a:xfrm>
            <a:off x="8685159" y="3580710"/>
            <a:ext cx="1060491" cy="73813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Error or </a:t>
            </a:r>
            <a:r>
              <a:rPr lang="en-US" sz="800" dirty="0" err="1"/>
              <a:t>Ctrl+C</a:t>
            </a:r>
            <a:r>
              <a:rPr lang="en-US" sz="800" dirty="0"/>
              <a:t>?</a:t>
            </a: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3664D6AD-890F-07DD-29C6-D09F47A27F0B}"/>
              </a:ext>
            </a:extLst>
          </p:cNvPr>
          <p:cNvSpPr/>
          <p:nvPr/>
        </p:nvSpPr>
        <p:spPr>
          <a:xfrm>
            <a:off x="9862197" y="3580710"/>
            <a:ext cx="1060491" cy="73813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Fail / </a:t>
            </a:r>
            <a:r>
              <a:rPr lang="en-US" sz="800" dirty="0" err="1"/>
              <a:t>Interupt</a:t>
            </a:r>
            <a:r>
              <a:rPr lang="en-US" sz="800" dirty="0"/>
              <a:t> Policy</a:t>
            </a:r>
          </a:p>
        </p:txBody>
      </p:sp>
      <p:sp>
        <p:nvSpPr>
          <p:cNvPr id="24" name="Flowchart: Terminator 23">
            <a:extLst>
              <a:ext uri="{FF2B5EF4-FFF2-40B4-BE49-F238E27FC236}">
                <a16:creationId xmlns:a16="http://schemas.microsoft.com/office/drawing/2014/main" id="{E5F14152-F5E6-0D7C-6D0B-979CC600DAAD}"/>
              </a:ext>
            </a:extLst>
          </p:cNvPr>
          <p:cNvSpPr/>
          <p:nvPr/>
        </p:nvSpPr>
        <p:spPr>
          <a:xfrm>
            <a:off x="11053168" y="3681239"/>
            <a:ext cx="1096466" cy="53707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End</a:t>
            </a:r>
          </a:p>
        </p:txBody>
      </p:sp>
      <p:sp>
        <p:nvSpPr>
          <p:cNvPr id="27" name="Flowchart: Document 26">
            <a:extLst>
              <a:ext uri="{FF2B5EF4-FFF2-40B4-BE49-F238E27FC236}">
                <a16:creationId xmlns:a16="http://schemas.microsoft.com/office/drawing/2014/main" id="{20917A3D-6D4B-C05D-2D1F-CF3C0CA92508}"/>
              </a:ext>
            </a:extLst>
          </p:cNvPr>
          <p:cNvSpPr/>
          <p:nvPr/>
        </p:nvSpPr>
        <p:spPr>
          <a:xfrm>
            <a:off x="4084488" y="5387820"/>
            <a:ext cx="528718" cy="619699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Bench Cal</a:t>
            </a:r>
          </a:p>
        </p:txBody>
      </p:sp>
      <p:sp>
        <p:nvSpPr>
          <p:cNvPr id="28" name="Flowchart: Process 27">
            <a:extLst>
              <a:ext uri="{FF2B5EF4-FFF2-40B4-BE49-F238E27FC236}">
                <a16:creationId xmlns:a16="http://schemas.microsoft.com/office/drawing/2014/main" id="{255D649F-31AB-7EEC-EA52-071248C91A57}"/>
              </a:ext>
            </a:extLst>
          </p:cNvPr>
          <p:cNvSpPr/>
          <p:nvPr/>
        </p:nvSpPr>
        <p:spPr>
          <a:xfrm>
            <a:off x="4043914" y="4537341"/>
            <a:ext cx="609866" cy="6196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Load </a:t>
            </a:r>
            <a:r>
              <a:rPr lang="en-US" sz="800" dirty="0" err="1"/>
              <a:t>store_cal</a:t>
            </a:r>
            <a:r>
              <a:rPr lang="en-US" sz="800" dirty="0"/>
              <a:t> (persists)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138F94-B82D-0A67-AD66-71ED0A592447}"/>
              </a:ext>
            </a:extLst>
          </p:cNvPr>
          <p:cNvCxnSpPr>
            <a:cxnSpLocks/>
          </p:cNvCxnSpPr>
          <p:nvPr/>
        </p:nvCxnSpPr>
        <p:spPr>
          <a:xfrm>
            <a:off x="1136671" y="3929118"/>
            <a:ext cx="857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067CDC-1CFE-6CCA-8DE7-2CF47C0C600F}"/>
              </a:ext>
            </a:extLst>
          </p:cNvPr>
          <p:cNvCxnSpPr>
            <a:cxnSpLocks/>
          </p:cNvCxnSpPr>
          <p:nvPr/>
        </p:nvCxnSpPr>
        <p:spPr>
          <a:xfrm>
            <a:off x="2401771" y="3949775"/>
            <a:ext cx="171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8A1D51B-35EE-DF88-0CAD-AD236047A372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754451" y="3949775"/>
            <a:ext cx="20789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31D49B-54D0-84CC-1FE7-8C374DFFE5B8}"/>
              </a:ext>
            </a:extLst>
          </p:cNvPr>
          <p:cNvCxnSpPr>
            <a:cxnSpLocks/>
            <a:stCxn id="17" idx="2"/>
            <a:endCxn id="28" idx="0"/>
          </p:cNvCxnSpPr>
          <p:nvPr/>
        </p:nvCxnSpPr>
        <p:spPr>
          <a:xfrm>
            <a:off x="4348847" y="4318841"/>
            <a:ext cx="0" cy="21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8C013C6-7CD7-7190-4F2E-800B2D2A8F83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737513" y="3949776"/>
            <a:ext cx="16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A5EBB9-8D5A-3D25-70C5-EFFC3066C712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712991" y="3949776"/>
            <a:ext cx="130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E4578F9-2F33-B9D1-580B-E8049A031FE3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7372260" y="3949776"/>
            <a:ext cx="1870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246111-8A46-4022-3599-768A04BB3B2D}"/>
              </a:ext>
            </a:extLst>
          </p:cNvPr>
          <p:cNvCxnSpPr>
            <a:cxnSpLocks/>
          </p:cNvCxnSpPr>
          <p:nvPr/>
        </p:nvCxnSpPr>
        <p:spPr>
          <a:xfrm>
            <a:off x="9743489" y="3944136"/>
            <a:ext cx="1002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DB4F92CD-0709-6647-B6CB-EC771F0CA0A0}"/>
              </a:ext>
            </a:extLst>
          </p:cNvPr>
          <p:cNvCxnSpPr>
            <a:cxnSpLocks/>
          </p:cNvCxnSpPr>
          <p:nvPr/>
        </p:nvCxnSpPr>
        <p:spPr>
          <a:xfrm>
            <a:off x="10899875" y="3944136"/>
            <a:ext cx="1554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8879BE3C-D8ED-51F0-C301-3194F33AEFC6}"/>
              </a:ext>
            </a:extLst>
          </p:cNvPr>
          <p:cNvCxnSpPr>
            <a:cxnSpLocks/>
          </p:cNvCxnSpPr>
          <p:nvPr/>
        </p:nvCxnSpPr>
        <p:spPr>
          <a:xfrm flipV="1">
            <a:off x="4348847" y="5157040"/>
            <a:ext cx="0" cy="230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: Elbow 1047">
            <a:extLst>
              <a:ext uri="{FF2B5EF4-FFF2-40B4-BE49-F238E27FC236}">
                <a16:creationId xmlns:a16="http://schemas.microsoft.com/office/drawing/2014/main" id="{6090D58C-C2BA-121E-59E2-72C783E9DEA2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4653780" y="4259625"/>
            <a:ext cx="1976033" cy="587566"/>
          </a:xfrm>
          <a:prstGeom prst="bentConnector3">
            <a:avLst>
              <a:gd name="adj1" fmla="val 1001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1F641656-07D1-62C7-3552-61934A1B64A1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>
            <a:off x="6608019" y="3388031"/>
            <a:ext cx="0" cy="251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C22320F8-F17C-C57A-EC26-D463B0394361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1812089" y="3413461"/>
            <a:ext cx="1" cy="226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: Elbow 1061">
            <a:extLst>
              <a:ext uri="{FF2B5EF4-FFF2-40B4-BE49-F238E27FC236}">
                <a16:creationId xmlns:a16="http://schemas.microsoft.com/office/drawing/2014/main" id="{46F4301C-8564-6A41-9AB2-0C47D6A219CB}"/>
              </a:ext>
            </a:extLst>
          </p:cNvPr>
          <p:cNvCxnSpPr>
            <a:cxnSpLocks/>
            <a:stCxn id="22" idx="0"/>
            <a:endCxn id="21" idx="0"/>
          </p:cNvCxnSpPr>
          <p:nvPr/>
        </p:nvCxnSpPr>
        <p:spPr>
          <a:xfrm rot="16200000" flipV="1">
            <a:off x="8652494" y="3017799"/>
            <a:ext cx="12700" cy="112582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5" name="Flowchart: Process 1064">
            <a:extLst>
              <a:ext uri="{FF2B5EF4-FFF2-40B4-BE49-F238E27FC236}">
                <a16:creationId xmlns:a16="http://schemas.microsoft.com/office/drawing/2014/main" id="{31C5EC89-B9BE-2715-DCD8-600D5639ECD7}"/>
              </a:ext>
            </a:extLst>
          </p:cNvPr>
          <p:cNvSpPr/>
          <p:nvPr/>
        </p:nvSpPr>
        <p:spPr>
          <a:xfrm>
            <a:off x="9862197" y="4576903"/>
            <a:ext cx="1060491" cy="47126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Run shutdown</a:t>
            </a:r>
          </a:p>
        </p:txBody>
      </p: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B6228C74-D00A-35E3-E2D9-230E0356B569}"/>
              </a:ext>
            </a:extLst>
          </p:cNvPr>
          <p:cNvCxnSpPr>
            <a:cxnSpLocks/>
            <a:stCxn id="23" idx="2"/>
            <a:endCxn id="1065" idx="0"/>
          </p:cNvCxnSpPr>
          <p:nvPr/>
        </p:nvCxnSpPr>
        <p:spPr>
          <a:xfrm>
            <a:off x="10392443" y="4318841"/>
            <a:ext cx="0" cy="258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: Elbow 1069">
            <a:extLst>
              <a:ext uri="{FF2B5EF4-FFF2-40B4-BE49-F238E27FC236}">
                <a16:creationId xmlns:a16="http://schemas.microsoft.com/office/drawing/2014/main" id="{0289792A-0232-12C2-5E00-F26AF2AC8099}"/>
              </a:ext>
            </a:extLst>
          </p:cNvPr>
          <p:cNvCxnSpPr>
            <a:cxnSpLocks/>
            <a:stCxn id="1065" idx="2"/>
            <a:endCxn id="24" idx="2"/>
          </p:cNvCxnSpPr>
          <p:nvPr/>
        </p:nvCxnSpPr>
        <p:spPr>
          <a:xfrm rot="5400000" flipH="1" flipV="1">
            <a:off x="10581995" y="4028760"/>
            <a:ext cx="829854" cy="1208958"/>
          </a:xfrm>
          <a:prstGeom prst="bentConnector3">
            <a:avLst>
              <a:gd name="adj1" fmla="val -275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TextBox 1071">
            <a:extLst>
              <a:ext uri="{FF2B5EF4-FFF2-40B4-BE49-F238E27FC236}">
                <a16:creationId xmlns:a16="http://schemas.microsoft.com/office/drawing/2014/main" id="{D9791959-EA95-E76E-3414-8EBAC9DF2A63}"/>
              </a:ext>
            </a:extLst>
          </p:cNvPr>
          <p:cNvSpPr txBox="1"/>
          <p:nvPr/>
        </p:nvSpPr>
        <p:spPr>
          <a:xfrm>
            <a:off x="10587696" y="3587060"/>
            <a:ext cx="930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None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D1C7A0BF-DA24-B6AB-EC88-0BA45E86D036}"/>
              </a:ext>
            </a:extLst>
          </p:cNvPr>
          <p:cNvSpPr txBox="1"/>
          <p:nvPr/>
        </p:nvSpPr>
        <p:spPr>
          <a:xfrm>
            <a:off x="9946399" y="4331999"/>
            <a:ext cx="930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CAF79165-5721-0A09-34B4-903687045DCE}"/>
              </a:ext>
            </a:extLst>
          </p:cNvPr>
          <p:cNvSpPr txBox="1"/>
          <p:nvPr/>
        </p:nvSpPr>
        <p:spPr>
          <a:xfrm>
            <a:off x="8377949" y="3130385"/>
            <a:ext cx="930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A2A868E9-71F1-EF64-F571-5FBA5124B2FC}"/>
              </a:ext>
            </a:extLst>
          </p:cNvPr>
          <p:cNvSpPr txBox="1"/>
          <p:nvPr/>
        </p:nvSpPr>
        <p:spPr>
          <a:xfrm>
            <a:off x="9564699" y="3681239"/>
            <a:ext cx="930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E29F7F86-3AAD-05DC-49EA-F80850234F65}"/>
              </a:ext>
            </a:extLst>
          </p:cNvPr>
          <p:cNvSpPr txBox="1"/>
          <p:nvPr/>
        </p:nvSpPr>
        <p:spPr>
          <a:xfrm>
            <a:off x="4323641" y="4276409"/>
            <a:ext cx="930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8341F8E9-85A3-BDFF-5294-BBDD003DB8F0}"/>
              </a:ext>
            </a:extLst>
          </p:cNvPr>
          <p:cNvSpPr txBox="1"/>
          <p:nvPr/>
        </p:nvSpPr>
        <p:spPr>
          <a:xfrm>
            <a:off x="4585228" y="3639926"/>
            <a:ext cx="930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cxnSp>
        <p:nvCxnSpPr>
          <p:cNvPr id="1098" name="Straight Arrow Connector 1097">
            <a:extLst>
              <a:ext uri="{FF2B5EF4-FFF2-40B4-BE49-F238E27FC236}">
                <a16:creationId xmlns:a16="http://schemas.microsoft.com/office/drawing/2014/main" id="{4EA07694-C328-E347-7AAD-445EBE0A286A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3162608" y="3454430"/>
            <a:ext cx="1" cy="185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: Elbow 1100">
            <a:extLst>
              <a:ext uri="{FF2B5EF4-FFF2-40B4-BE49-F238E27FC236}">
                <a16:creationId xmlns:a16="http://schemas.microsoft.com/office/drawing/2014/main" id="{6DCB161C-FBAC-D3B4-50AD-83E6C1DBB069}"/>
              </a:ext>
            </a:extLst>
          </p:cNvPr>
          <p:cNvCxnSpPr>
            <a:cxnSpLocks/>
            <a:stCxn id="15" idx="0"/>
          </p:cNvCxnSpPr>
          <p:nvPr/>
        </p:nvCxnSpPr>
        <p:spPr>
          <a:xfrm rot="5400000" flipH="1" flipV="1">
            <a:off x="3372983" y="2142328"/>
            <a:ext cx="363596" cy="7843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86C240B4-AE81-BD32-FAB1-34B0021F012D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3551274" y="3085365"/>
            <a:ext cx="408907" cy="864411"/>
          </a:xfrm>
          <a:prstGeom prst="bentConnector3">
            <a:avLst>
              <a:gd name="adj1" fmla="val 732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7" name="TextBox 1106">
            <a:extLst>
              <a:ext uri="{FF2B5EF4-FFF2-40B4-BE49-F238E27FC236}">
                <a16:creationId xmlns:a16="http://schemas.microsoft.com/office/drawing/2014/main" id="{5C38F1BD-A4F8-5BB6-A357-E7372FBA7DC2}"/>
              </a:ext>
            </a:extLst>
          </p:cNvPr>
          <p:cNvSpPr txBox="1"/>
          <p:nvPr/>
        </p:nvSpPr>
        <p:spPr>
          <a:xfrm>
            <a:off x="3503276" y="2876578"/>
            <a:ext cx="930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58F29ECB-5A5B-AC77-16CF-FF93704312A6}"/>
              </a:ext>
            </a:extLst>
          </p:cNvPr>
          <p:cNvSpPr txBox="1"/>
          <p:nvPr/>
        </p:nvSpPr>
        <p:spPr>
          <a:xfrm>
            <a:off x="3288979" y="2091450"/>
            <a:ext cx="930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1109" name="Flowchart: Process 1108">
            <a:extLst>
              <a:ext uri="{FF2B5EF4-FFF2-40B4-BE49-F238E27FC236}">
                <a16:creationId xmlns:a16="http://schemas.microsoft.com/office/drawing/2014/main" id="{A6DC7DE9-C645-6766-DB0E-DF5F55FE6225}"/>
              </a:ext>
            </a:extLst>
          </p:cNvPr>
          <p:cNvSpPr/>
          <p:nvPr/>
        </p:nvSpPr>
        <p:spPr>
          <a:xfrm>
            <a:off x="3941176" y="2066928"/>
            <a:ext cx="813378" cy="6196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Initialize plot and plot righter</a:t>
            </a:r>
          </a:p>
        </p:txBody>
      </p:sp>
      <p:cxnSp>
        <p:nvCxnSpPr>
          <p:cNvPr id="1111" name="Connector: Elbow 1110">
            <a:extLst>
              <a:ext uri="{FF2B5EF4-FFF2-40B4-BE49-F238E27FC236}">
                <a16:creationId xmlns:a16="http://schemas.microsoft.com/office/drawing/2014/main" id="{15CD04AB-15D0-9839-8BB7-73CAEF598035}"/>
              </a:ext>
            </a:extLst>
          </p:cNvPr>
          <p:cNvCxnSpPr>
            <a:cxnSpLocks/>
            <a:stCxn id="12" idx="1"/>
            <a:endCxn id="1109" idx="3"/>
          </p:cNvCxnSpPr>
          <p:nvPr/>
        </p:nvCxnSpPr>
        <p:spPr>
          <a:xfrm rot="10800000">
            <a:off x="4754554" y="2376779"/>
            <a:ext cx="1589106" cy="7423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Arrow Connector 1113">
            <a:extLst>
              <a:ext uri="{FF2B5EF4-FFF2-40B4-BE49-F238E27FC236}">
                <a16:creationId xmlns:a16="http://schemas.microsoft.com/office/drawing/2014/main" id="{13E7F164-CEC8-E8B1-3F58-D597E594A053}"/>
              </a:ext>
            </a:extLst>
          </p:cNvPr>
          <p:cNvCxnSpPr>
            <a:stCxn id="1109" idx="2"/>
            <a:endCxn id="17" idx="0"/>
          </p:cNvCxnSpPr>
          <p:nvPr/>
        </p:nvCxnSpPr>
        <p:spPr>
          <a:xfrm>
            <a:off x="4347865" y="2686627"/>
            <a:ext cx="982" cy="894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075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F440-7386-84FA-E4C4-2BA4A26F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YAML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30238-13CD-12B4-9B1E-18D7DD229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87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C8F23-289E-BB6E-94F0-0071B0BCC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E0328-5463-2E46-B07B-E2A17B84E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Calibrate	</a:t>
            </a:r>
          </a:p>
          <a:p>
            <a:pPr lvl="1"/>
            <a:r>
              <a:rPr lang="en-US" dirty="0"/>
              <a:t>Saves variables to persistent (for testbench) variables to be used in code</a:t>
            </a:r>
          </a:p>
          <a:p>
            <a:pPr lvl="2"/>
            <a:r>
              <a:rPr lang="en-US" dirty="0"/>
              <a:t>i.e. saves input and output coupling for power calibration for VNA</a:t>
            </a:r>
          </a:p>
          <a:p>
            <a:pPr lvl="1"/>
            <a:r>
              <a:rPr lang="en-US" dirty="0"/>
              <a:t>Set limits through cal.</a:t>
            </a:r>
          </a:p>
          <a:p>
            <a:r>
              <a:rPr lang="en-US" dirty="0"/>
              <a:t>Measure</a:t>
            </a:r>
          </a:p>
          <a:p>
            <a:pPr lvl="1"/>
            <a:r>
              <a:rPr lang="en-US" dirty="0"/>
              <a:t>Calls a function/method for a specific instrument that returns a value that can be saved</a:t>
            </a:r>
          </a:p>
          <a:p>
            <a:pPr lvl="2"/>
            <a:r>
              <a:rPr lang="en-US" dirty="0"/>
              <a:t>i.e. </a:t>
            </a:r>
            <a:r>
              <a:rPr lang="en-US" dirty="0" err="1"/>
              <a:t>get_voltage</a:t>
            </a:r>
            <a:r>
              <a:rPr lang="en-US" dirty="0"/>
              <a:t> for DMM</a:t>
            </a:r>
          </a:p>
          <a:p>
            <a:r>
              <a:rPr lang="en-US" dirty="0"/>
              <a:t>Call</a:t>
            </a:r>
          </a:p>
          <a:p>
            <a:pPr lvl="1"/>
            <a:r>
              <a:rPr lang="en-US" dirty="0"/>
              <a:t>Calls a function/method for specific instrument that does not return a value</a:t>
            </a:r>
          </a:p>
          <a:p>
            <a:r>
              <a:rPr lang="en-US" dirty="0"/>
              <a:t>Sweep</a:t>
            </a:r>
          </a:p>
          <a:p>
            <a:pPr lvl="1"/>
            <a:r>
              <a:rPr lang="en-US" dirty="0"/>
              <a:t>Will sweep over a variable. Can be nested i.e. power and frequency</a:t>
            </a:r>
          </a:p>
          <a:p>
            <a:pPr lvl="1"/>
            <a:r>
              <a:rPr lang="en-US" dirty="0"/>
              <a:t>Can </a:t>
            </a:r>
            <a:r>
              <a:rPr lang="en-US" dirty="0" err="1"/>
              <a:t>subcall</a:t>
            </a:r>
            <a:r>
              <a:rPr lang="en-US" dirty="0"/>
              <a:t> call/measure. Unsure about calibrate. </a:t>
            </a:r>
          </a:p>
          <a:p>
            <a:r>
              <a:rPr lang="en-US" dirty="0" err="1"/>
              <a:t>results_update</a:t>
            </a:r>
            <a:r>
              <a:rPr lang="en-US" dirty="0"/>
              <a:t> or </a:t>
            </a:r>
            <a:r>
              <a:rPr lang="en-US" dirty="0" err="1"/>
              <a:t>update_results</a:t>
            </a:r>
            <a:endParaRPr lang="en-US" dirty="0"/>
          </a:p>
          <a:p>
            <a:pPr lvl="1"/>
            <a:r>
              <a:rPr lang="en-US" dirty="0"/>
              <a:t>Updates flattened environment to results</a:t>
            </a:r>
          </a:p>
          <a:p>
            <a:pPr lvl="1"/>
            <a:r>
              <a:rPr lang="en-US" dirty="0"/>
              <a:t>If plot is defined it will update plot</a:t>
            </a:r>
          </a:p>
          <a:p>
            <a:pPr lvl="1"/>
            <a:r>
              <a:rPr lang="en-US" dirty="0"/>
              <a:t>Will check if limits are reached and if shutdown needs to be run. This is the only way to check if limits have been met</a:t>
            </a:r>
          </a:p>
          <a:p>
            <a:r>
              <a:rPr lang="en-US" dirty="0" err="1"/>
              <a:t>plot_reset</a:t>
            </a:r>
            <a:endParaRPr lang="en-US" dirty="0"/>
          </a:p>
          <a:p>
            <a:pPr lvl="1"/>
            <a:r>
              <a:rPr lang="en-US" dirty="0"/>
              <a:t>Saves a </a:t>
            </a:r>
            <a:r>
              <a:rPr lang="en-US" dirty="0" err="1"/>
              <a:t>png</a:t>
            </a:r>
            <a:r>
              <a:rPr lang="en-US" dirty="0"/>
              <a:t> and then reinitializes the plot</a:t>
            </a:r>
          </a:p>
          <a:p>
            <a:r>
              <a:rPr lang="en-US" dirty="0"/>
              <a:t>Transform</a:t>
            </a:r>
          </a:p>
          <a:p>
            <a:pPr lvl="1"/>
            <a:r>
              <a:rPr lang="en-US" dirty="0"/>
              <a:t>Runs method/function that can return or not return a value but is not connected to an instrument. Passes in current environment variables and calibration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67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603E-5B74-229B-A18B-9FD3864C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3983C-65C4-5259-7CF8-9D22DBFC0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5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643D-A378-07CE-5BA0-3D87C365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transforms: Don’t worry about it </a:t>
            </a:r>
            <a:r>
              <a:rPr lang="en-US" dirty="0" err="1"/>
              <a:t>tbh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7D122-3162-8C62-3DA0-9B4DE693F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_read_sweep_points </a:t>
            </a:r>
          </a:p>
          <a:p>
            <a:pPr lvl="1"/>
            <a:r>
              <a:rPr lang="en-US" dirty="0"/>
              <a:t>helper to read mag/deg rows from a CSV into a list of point tuples (used by load-sweep transforms).</a:t>
            </a:r>
          </a:p>
          <a:p>
            <a:r>
              <a:rPr lang="en-US" b="1" dirty="0"/>
              <a:t>_power_correction_cal </a:t>
            </a:r>
          </a:p>
          <a:p>
            <a:pPr lvl="1"/>
            <a:r>
              <a:rPr lang="en-US" dirty="0"/>
              <a:t>computes coupling factor and related values using DUT/PM calibration terms, PM power, and S-parameter data; returns C10_2 and supporting vectors.</a:t>
            </a:r>
          </a:p>
          <a:p>
            <a:r>
              <a:rPr lang="en-US" dirty="0"/>
              <a:t>_</a:t>
            </a:r>
            <a:r>
              <a:rPr lang="en-US" b="1" dirty="0"/>
              <a:t>extract_frequency_vector </a:t>
            </a:r>
          </a:p>
          <a:p>
            <a:pPr lvl="1"/>
            <a:r>
              <a:rPr lang="en-US" dirty="0"/>
              <a:t>best-effort extraction of a frequency array from </a:t>
            </a:r>
            <a:r>
              <a:rPr lang="en-US" dirty="0" err="1"/>
              <a:t>dict</a:t>
            </a:r>
            <a:r>
              <a:rPr lang="en-US" dirty="0"/>
              <a:t>/list/</a:t>
            </a:r>
            <a:r>
              <a:rPr lang="en-US" dirty="0" err="1"/>
              <a:t>ndarray</a:t>
            </a:r>
            <a:r>
              <a:rPr lang="en-US" dirty="0"/>
              <a:t> structures.</a:t>
            </a:r>
          </a:p>
          <a:p>
            <a:r>
              <a:rPr lang="en-US" b="1" dirty="0"/>
              <a:t>_frequencies_overlap </a:t>
            </a:r>
          </a:p>
          <a:p>
            <a:pPr lvl="1"/>
            <a:r>
              <a:rPr lang="en-US" dirty="0"/>
              <a:t>checks whether two frequency arrays share the same values within a tolerance.</a:t>
            </a:r>
          </a:p>
          <a:p>
            <a:r>
              <a:rPr lang="en-US" b="1" dirty="0"/>
              <a:t>_extract_scalar </a:t>
            </a:r>
          </a:p>
          <a:p>
            <a:pPr lvl="1"/>
            <a:r>
              <a:rPr lang="en-US" dirty="0"/>
              <a:t>pulls out a single numeric value from mixed input types (scalars, strings, </a:t>
            </a:r>
            <a:r>
              <a:rPr lang="en-US" dirty="0" err="1"/>
              <a:t>dicts</a:t>
            </a:r>
            <a:r>
              <a:rPr lang="en-US" dirty="0"/>
              <a:t>, objects, arrays).</a:t>
            </a:r>
          </a:p>
          <a:p>
            <a:r>
              <a:rPr lang="en-US" b="1" dirty="0"/>
              <a:t>_convert_dbm_to_linear </a:t>
            </a:r>
          </a:p>
          <a:p>
            <a:pPr lvl="1"/>
            <a:r>
              <a:rPr lang="en-US" dirty="0"/>
              <a:t>converts a dBm value to linear watts.</a:t>
            </a:r>
          </a:p>
          <a:p>
            <a:r>
              <a:rPr lang="en-US" b="1" dirty="0"/>
              <a:t>_extract_array_field </a:t>
            </a:r>
          </a:p>
          <a:p>
            <a:pPr lvl="1"/>
            <a:r>
              <a:rPr lang="en-US" dirty="0"/>
              <a:t>extracts a numeric array from </a:t>
            </a:r>
            <a:r>
              <a:rPr lang="en-US" dirty="0" err="1"/>
              <a:t>dict</a:t>
            </a:r>
            <a:r>
              <a:rPr lang="en-US" dirty="0"/>
              <a:t>/object fields matching a set of keys, with optional type conversion.</a:t>
            </a:r>
          </a:p>
          <a:p>
            <a:r>
              <a:rPr lang="en-US" b="1" dirty="0"/>
              <a:t>_to_array </a:t>
            </a:r>
          </a:p>
          <a:p>
            <a:pPr lvl="1"/>
            <a:r>
              <a:rPr lang="en-US" dirty="0"/>
              <a:t>normalizes input (including real/</a:t>
            </a:r>
            <a:r>
              <a:rPr lang="en-US" dirty="0" err="1"/>
              <a:t>imag</a:t>
            </a:r>
            <a:r>
              <a:rPr lang="en-US" dirty="0"/>
              <a:t> </a:t>
            </a:r>
            <a:r>
              <a:rPr lang="en-US" dirty="0" err="1"/>
              <a:t>dicts</a:t>
            </a:r>
            <a:r>
              <a:rPr lang="en-US" dirty="0"/>
              <a:t>) to a NumPy array of the requested </a:t>
            </a:r>
            <a:r>
              <a:rPr lang="en-US" dirty="0" err="1"/>
              <a:t>dtype</a:t>
            </a:r>
            <a:r>
              <a:rPr lang="en-US" dirty="0"/>
              <a:t>.</a:t>
            </a:r>
          </a:p>
          <a:p>
            <a:r>
              <a:rPr lang="en-US" b="1" dirty="0"/>
              <a:t>_align_array_length </a:t>
            </a:r>
          </a:p>
          <a:p>
            <a:pPr lvl="1"/>
            <a:r>
              <a:rPr lang="en-US" dirty="0"/>
              <a:t>broadcasts a length-1 array to a target length or returns None if it can’t match the size</a:t>
            </a:r>
          </a:p>
        </p:txBody>
      </p:sp>
    </p:spTree>
    <p:extLst>
      <p:ext uri="{BB962C8B-B14F-4D97-AF65-F5344CB8AC3E}">
        <p14:creationId xmlns:p14="http://schemas.microsoft.com/office/powerpoint/2010/main" val="224395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2D80F-5E33-555F-7F74-64B05F226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new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62174-38C4-A46D-DCBC-E71C6C882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in transform.py</a:t>
            </a:r>
          </a:p>
          <a:p>
            <a:r>
              <a:rPr lang="en-US" dirty="0"/>
              <a:t>Transform.py is a </a:t>
            </a:r>
            <a:r>
              <a:rPr lang="en-US" dirty="0" err="1"/>
              <a:t>registery</a:t>
            </a:r>
            <a:r>
              <a:rPr lang="en-US" dirty="0"/>
              <a:t>. Once function is defined add it to the registry with </a:t>
            </a:r>
            <a:r>
              <a:rPr lang="en-US" dirty="0" err="1"/>
              <a:t>registry.register</a:t>
            </a:r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Def foo(payload: </a:t>
            </a:r>
            <a:r>
              <a:rPr lang="en-US" dirty="0" err="1"/>
              <a:t>dict</a:t>
            </a:r>
            <a:r>
              <a:rPr lang="en-US" dirty="0"/>
              <a:t>, _</a:t>
            </a:r>
            <a:r>
              <a:rPr lang="en-US" dirty="0" err="1"/>
              <a:t>cal</a:t>
            </a:r>
            <a:r>
              <a:rPr lang="en-US" dirty="0"/>
              <a:t>: </a:t>
            </a:r>
            <a:r>
              <a:rPr lang="en-US" dirty="0" err="1"/>
              <a:t>dict</a:t>
            </a:r>
            <a:r>
              <a:rPr lang="en-US" dirty="0"/>
              <a:t>) -&gt; </a:t>
            </a:r>
            <a:r>
              <a:rPr lang="en-US" dirty="0" err="1"/>
              <a:t>dict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var = </a:t>
            </a:r>
            <a:r>
              <a:rPr lang="en-US" dirty="0" err="1"/>
              <a:t>payload.get</a:t>
            </a:r>
            <a:r>
              <a:rPr lang="en-US" dirty="0"/>
              <a:t>(“var") or {}</a:t>
            </a:r>
          </a:p>
          <a:p>
            <a:pPr lvl="2"/>
            <a:r>
              <a:rPr lang="en-US" dirty="0" err="1"/>
              <a:t>var_return</a:t>
            </a:r>
            <a:r>
              <a:rPr lang="en-US" dirty="0"/>
              <a:t> = 2*var</a:t>
            </a:r>
          </a:p>
          <a:p>
            <a:pPr lvl="2"/>
            <a:r>
              <a:rPr lang="en-US" dirty="0"/>
              <a:t>Return {“</a:t>
            </a:r>
            <a:r>
              <a:rPr lang="en-US" dirty="0" err="1"/>
              <a:t>var_name</a:t>
            </a:r>
            <a:r>
              <a:rPr lang="en-US" dirty="0"/>
              <a:t>”: </a:t>
            </a:r>
            <a:r>
              <a:rPr lang="en-US" dirty="0" err="1"/>
              <a:t>var_return</a:t>
            </a:r>
            <a:r>
              <a:rPr lang="en-US" dirty="0"/>
              <a:t> }</a:t>
            </a:r>
          </a:p>
          <a:p>
            <a:pPr lvl="1"/>
            <a:r>
              <a:rPr lang="en-US" dirty="0" err="1"/>
              <a:t>registry.register</a:t>
            </a:r>
            <a:r>
              <a:rPr lang="en-US" dirty="0"/>
              <a:t>(“</a:t>
            </a:r>
            <a:r>
              <a:rPr lang="en-US" dirty="0" err="1"/>
              <a:t>foo_name</a:t>
            </a:r>
            <a:r>
              <a:rPr lang="en-US" dirty="0"/>
              <a:t>", foo)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517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578A-7F72-ECED-A00A-62015AE2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VNA attenuation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D5608-9220-2311-FA08-8CB4E1372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changing Attenuation maintain </a:t>
            </a:r>
            <a:r>
              <a:rPr lang="en-US" dirty="0" err="1"/>
              <a:t>cal</a:t>
            </a:r>
            <a:r>
              <a:rPr lang="en-US" dirty="0"/>
              <a:t>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36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F566-DA67-BCAF-B814-212511C9D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Load Sweeps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A037C-992D-822C-11AE-2B1784C66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the same for source just a different word</a:t>
            </a:r>
          </a:p>
        </p:txBody>
      </p:sp>
    </p:spTree>
    <p:extLst>
      <p:ext uri="{BB962C8B-B14F-4D97-AF65-F5344CB8AC3E}">
        <p14:creationId xmlns:p14="http://schemas.microsoft.com/office/powerpoint/2010/main" val="477139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CD88-7260-09AE-4241-3ED58252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Sweep </a:t>
            </a:r>
            <a:r>
              <a:rPr lang="en-US" dirty="0" err="1"/>
              <a:t>geneation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589C4-7E1E-7EFB-FBB8-361A07630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python -m </a:t>
            </a:r>
            <a:r>
              <a:rPr lang="en-US" dirty="0" err="1"/>
              <a:t>src.loadpull.tools.make_load_sweep</a:t>
            </a:r>
            <a:endParaRPr lang="en-US" dirty="0"/>
          </a:p>
          <a:p>
            <a:pPr lvl="1"/>
            <a:r>
              <a:rPr lang="en-US" dirty="0"/>
              <a:t>Generates sweep in csv file with each point at a different impedance. Impedances are single frequency specific</a:t>
            </a:r>
          </a:p>
          <a:p>
            <a:r>
              <a:rPr lang="en-US" dirty="0" err="1"/>
              <a:t>Make_load_sweep</a:t>
            </a:r>
            <a:r>
              <a:rPr lang="en-US" dirty="0"/>
              <a:t> parameters:</a:t>
            </a:r>
          </a:p>
          <a:p>
            <a:pPr lvl="1"/>
            <a:r>
              <a:rPr lang="en-US" dirty="0"/>
              <a:t>--center-mag Center |Gamma| for the rings (0..1).</a:t>
            </a:r>
          </a:p>
          <a:p>
            <a:pPr lvl="1"/>
            <a:r>
              <a:rPr lang="en-US" dirty="0"/>
              <a:t>--center-deg Center angle in degrees for the rings.</a:t>
            </a:r>
          </a:p>
          <a:p>
            <a:pPr lvl="1"/>
            <a:r>
              <a:rPr lang="en-US" dirty="0"/>
              <a:t>--radii Comma-separated ring radii relative to center (e.g., `0.0,0.1,0.2`); `0.0` is added if omitted.</a:t>
            </a:r>
          </a:p>
          <a:p>
            <a:pPr lvl="1"/>
            <a:r>
              <a:rPr lang="en-US" dirty="0"/>
              <a:t>--angle-start / --angle-stop Start/stop angles (deg) for each ring (default -180/180).</a:t>
            </a:r>
          </a:p>
          <a:p>
            <a:pPr lvl="1"/>
            <a:r>
              <a:rPr lang="en-US" dirty="0"/>
              <a:t>--resolution Angular preset per ring: `coarse` (~18 pts at outer ring), `fine` (~36), `ultra` (~54). Ignored if points-per-ring or deg-step is provided.</a:t>
            </a:r>
          </a:p>
          <a:p>
            <a:pPr lvl="1"/>
            <a:r>
              <a:rPr lang="en-US" dirty="0"/>
              <a:t>--points-per-ring Fixed number of points for each nonzero ring (overrides resolution).</a:t>
            </a:r>
          </a:p>
          <a:p>
            <a:pPr lvl="1"/>
            <a:r>
              <a:rPr lang="en-US" dirty="0"/>
              <a:t>--deg-step Fixed angular step in degrees for all rings (overrides resolution if given).</a:t>
            </a:r>
          </a:p>
          <a:p>
            <a:pPr lvl="1"/>
            <a:r>
              <a:rPr lang="en-US" dirty="0"/>
              <a:t>--out Output CSV path.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python -m </a:t>
            </a:r>
            <a:r>
              <a:rPr lang="en-US" dirty="0" err="1"/>
              <a:t>src.loadpull.tools.make_load_sweep</a:t>
            </a:r>
            <a:r>
              <a:rPr lang="en-US" dirty="0"/>
              <a:t> --center-mag 0.25 --center-deg -90 --radii 0.25,0.5 --angle-start -180 --angle-stop 180 --resolution coarse --out </a:t>
            </a:r>
            <a:r>
              <a:rPr lang="en-US" dirty="0" err="1"/>
              <a:t>loadsweeps</a:t>
            </a:r>
            <a:r>
              <a:rPr lang="en-US" dirty="0"/>
              <a:t>/load_sweep_attenvalidation.csv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594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E89D-FFCF-371A-4B90-3BEFBDA92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Sweeps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7083-34D1-1C59-F9E2-1A15386D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Sweep file is used as parameter in YAML:</a:t>
            </a:r>
          </a:p>
          <a:p>
            <a:pPr lvl="1"/>
            <a:r>
              <a:rPr lang="en-US" dirty="0"/>
              <a:t>parameters: {</a:t>
            </a:r>
            <a:r>
              <a:rPr lang="en-US" dirty="0" err="1"/>
              <a:t>freq_ghz</a:t>
            </a:r>
            <a:r>
              <a:rPr lang="en-US" dirty="0"/>
              <a:t>: {default: 5}, </a:t>
            </a:r>
            <a:r>
              <a:rPr lang="en-US" dirty="0" err="1"/>
              <a:t>sweep_file</a:t>
            </a:r>
            <a:r>
              <a:rPr lang="en-US" dirty="0"/>
              <a:t>: {default: "</a:t>
            </a:r>
            <a:r>
              <a:rPr lang="en-US" dirty="0" err="1"/>
              <a:t>loadsweeps</a:t>
            </a:r>
            <a:r>
              <a:rPr lang="en-US" dirty="0"/>
              <a:t>/test_Tuner_sweep.csv"}}</a:t>
            </a:r>
          </a:p>
          <a:p>
            <a:r>
              <a:rPr lang="en-US" dirty="0"/>
              <a:t>Sweep is loaded into </a:t>
            </a:r>
            <a:r>
              <a:rPr lang="en-US" dirty="0" err="1"/>
              <a:t>yaml</a:t>
            </a:r>
            <a:r>
              <a:rPr lang="en-US" dirty="0"/>
              <a:t>:</a:t>
            </a:r>
          </a:p>
          <a:p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steps: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  - transform: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      method: </a:t>
            </a:r>
            <a:r>
              <a:rPr lang="en-US" dirty="0" err="1"/>
              <a:t>loadpull_sweep_len</a:t>
            </a: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      </a:t>
            </a:r>
            <a:r>
              <a:rPr lang="en-US" dirty="0" err="1"/>
              <a:t>args</a:t>
            </a:r>
            <a:r>
              <a:rPr lang="en-US" dirty="0"/>
              <a:t>: { file: "${</a:t>
            </a:r>
            <a:r>
              <a:rPr lang="en-US" dirty="0" err="1"/>
              <a:t>sweep_file</a:t>
            </a:r>
            <a:r>
              <a:rPr lang="en-US" dirty="0"/>
              <a:t>}" }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/>
              <a:t>      </a:t>
            </a:r>
            <a:r>
              <a:rPr lang="en-US" dirty="0" err="1"/>
              <a:t>save_as</a:t>
            </a:r>
            <a:r>
              <a:rPr lang="en-US" dirty="0"/>
              <a:t>: "</a:t>
            </a:r>
            <a:r>
              <a:rPr lang="en-US" dirty="0" err="1"/>
              <a:t>sweep_info</a:t>
            </a:r>
            <a:r>
              <a:rPr lang="en-US" dirty="0"/>
              <a:t>“</a:t>
            </a:r>
          </a:p>
          <a:p>
            <a:r>
              <a:rPr lang="en-US" dirty="0"/>
              <a:t>Sweep is swept using index</a:t>
            </a:r>
          </a:p>
          <a:p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- sweep: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var: </a:t>
            </a:r>
            <a:r>
              <a:rPr lang="en-US" dirty="0" err="1"/>
              <a:t>idx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from: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to: "${</a:t>
            </a:r>
            <a:r>
              <a:rPr lang="en-US" dirty="0" err="1"/>
              <a:t>sweep_info.count</a:t>
            </a:r>
            <a:r>
              <a:rPr lang="en-US" dirty="0"/>
              <a:t>}"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step: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do: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  - transform: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      method: </a:t>
            </a:r>
            <a:r>
              <a:rPr lang="en-US" dirty="0" err="1"/>
              <a:t>loadpull_sweep_point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      </a:t>
            </a:r>
            <a:r>
              <a:rPr lang="en-US" dirty="0" err="1"/>
              <a:t>args</a:t>
            </a:r>
            <a:r>
              <a:rPr lang="en-US" dirty="0"/>
              <a:t>: { file: "${</a:t>
            </a:r>
            <a:r>
              <a:rPr lang="en-US" dirty="0" err="1"/>
              <a:t>sweep_file</a:t>
            </a:r>
            <a:r>
              <a:rPr lang="en-US" dirty="0"/>
              <a:t>}", index: "${</a:t>
            </a:r>
            <a:r>
              <a:rPr lang="en-US" dirty="0" err="1"/>
              <a:t>idx</a:t>
            </a:r>
            <a:r>
              <a:rPr lang="en-US" dirty="0"/>
              <a:t>}"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      </a:t>
            </a:r>
            <a:r>
              <a:rPr lang="en-US" dirty="0" err="1"/>
              <a:t>save_as</a:t>
            </a:r>
            <a:r>
              <a:rPr lang="en-US" dirty="0"/>
              <a:t>: "point"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             - call: { </a:t>
            </a:r>
            <a:r>
              <a:rPr lang="en-US" dirty="0" err="1"/>
              <a:t>inst</a:t>
            </a:r>
            <a:r>
              <a:rPr lang="en-US" dirty="0"/>
              <a:t>: LOADTUNER, method: </a:t>
            </a:r>
            <a:r>
              <a:rPr lang="en-US" dirty="0" err="1"/>
              <a:t>set_gamma</a:t>
            </a:r>
            <a:r>
              <a:rPr lang="en-US" dirty="0"/>
              <a:t>, </a:t>
            </a:r>
            <a:r>
              <a:rPr lang="en-US" dirty="0" err="1"/>
              <a:t>args</a:t>
            </a:r>
            <a:r>
              <a:rPr lang="en-US" dirty="0"/>
              <a:t>: ["${</a:t>
            </a:r>
            <a:r>
              <a:rPr lang="en-US" dirty="0" err="1"/>
              <a:t>freq_ghz</a:t>
            </a:r>
            <a:r>
              <a:rPr lang="en-US" dirty="0"/>
              <a:t>}", "${</a:t>
            </a:r>
            <a:r>
              <a:rPr lang="en-US" dirty="0" err="1"/>
              <a:t>point.gamma_mag</a:t>
            </a:r>
            <a:r>
              <a:rPr lang="en-US" dirty="0"/>
              <a:t>}", "${</a:t>
            </a:r>
            <a:r>
              <a:rPr lang="en-US" dirty="0" err="1"/>
              <a:t>point.gamma_deg</a:t>
            </a:r>
            <a:r>
              <a:rPr lang="en-US" dirty="0"/>
              <a:t>}"] }       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818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FEAB-3836-F965-8911-8C4A2A64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1C73E-EC9D-6E0D-AE55-5E6EAF2B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58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7BD8-29BF-1CB9-0763-0C83DE44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Plotter Registry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DBAE8-3C61-631D-4FE5-9ACF6C1F5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17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EE7C-ED61-EB90-C186-50F9D8E6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Plotter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B5F6-AAF2-EA80-FAC0-79E2A8CDD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plotter Registry is where the different types of plots for each test type is defined.</a:t>
            </a:r>
          </a:p>
          <a:p>
            <a:r>
              <a:rPr lang="en-US" dirty="0"/>
              <a:t>Each test type can have multiple tabs</a:t>
            </a:r>
          </a:p>
          <a:p>
            <a:r>
              <a:rPr lang="en-US" dirty="0"/>
              <a:t>Each plot is defined by:</a:t>
            </a:r>
          </a:p>
          <a:p>
            <a:pPr lvl="1"/>
            <a:r>
              <a:rPr lang="en-US" dirty="0"/>
              <a:t>title: plot title.</a:t>
            </a:r>
          </a:p>
          <a:p>
            <a:pPr lvl="1"/>
            <a:r>
              <a:rPr lang="en-US" dirty="0"/>
              <a:t>mode: line or scatter.</a:t>
            </a:r>
          </a:p>
          <a:p>
            <a:pPr lvl="1"/>
            <a:r>
              <a:rPr lang="en-US" dirty="0"/>
              <a:t>x: x-axis field (flat key).</a:t>
            </a:r>
          </a:p>
          <a:p>
            <a:pPr lvl="1"/>
            <a:r>
              <a:rPr lang="en-US" dirty="0"/>
              <a:t>y: list of y fields.</a:t>
            </a:r>
          </a:p>
          <a:p>
            <a:pPr lvl="1"/>
            <a:r>
              <a:rPr lang="en-US" dirty="0" err="1"/>
              <a:t>xy</a:t>
            </a:r>
            <a:r>
              <a:rPr lang="en-US" dirty="0"/>
              <a:t>: tuple of two fields for scatter (</a:t>
            </a:r>
            <a:r>
              <a:rPr lang="en-US" dirty="0" err="1"/>
              <a:t>x,y</a:t>
            </a:r>
            <a:r>
              <a:rPr lang="en-US" dirty="0"/>
              <a:t>) pairs.</a:t>
            </a:r>
          </a:p>
          <a:p>
            <a:pPr lvl="1"/>
            <a:r>
              <a:rPr lang="en-US" dirty="0"/>
              <a:t>columns: list of columns required.</a:t>
            </a:r>
          </a:p>
          <a:p>
            <a:pPr lvl="1"/>
            <a:r>
              <a:rPr lang="en-US" dirty="0" err="1"/>
              <a:t>xlabel</a:t>
            </a:r>
            <a:r>
              <a:rPr lang="en-US" dirty="0"/>
              <a:t>/</a:t>
            </a:r>
            <a:r>
              <a:rPr lang="en-US" dirty="0" err="1"/>
              <a:t>ylabel</a:t>
            </a:r>
            <a:r>
              <a:rPr lang="en-US" dirty="0"/>
              <a:t>: axis labels.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70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5469</TotalTime>
  <Words>1627</Words>
  <Application>Microsoft Office PowerPoint</Application>
  <PresentationFormat>Widescreen</PresentationFormat>
  <Paragraphs>208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Load Pull Application</vt:lpstr>
      <vt:lpstr>What I want the app to do</vt:lpstr>
      <vt:lpstr>Questions</vt:lpstr>
      <vt:lpstr>Calibrate</vt:lpstr>
      <vt:lpstr>How it works</vt:lpstr>
      <vt:lpstr>Power cal</vt:lpstr>
      <vt:lpstr>Power Cal Steps </vt:lpstr>
      <vt:lpstr>Notes</vt:lpstr>
      <vt:lpstr>Plotter</vt:lpstr>
      <vt:lpstr>Getting Started</vt:lpstr>
      <vt:lpstr>What is the data?</vt:lpstr>
      <vt:lpstr>Database</vt:lpstr>
      <vt:lpstr>Sqlite3 database</vt:lpstr>
      <vt:lpstr>Populate_dB</vt:lpstr>
      <vt:lpstr>Source Code</vt:lpstr>
      <vt:lpstr>Flowchart</vt:lpstr>
      <vt:lpstr>YAML</vt:lpstr>
      <vt:lpstr>Different steps:</vt:lpstr>
      <vt:lpstr>Transforms</vt:lpstr>
      <vt:lpstr>Backend transforms: Don’t worry about it tbh</vt:lpstr>
      <vt:lpstr>Make new transform</vt:lpstr>
      <vt:lpstr>VNA attenuation test</vt:lpstr>
      <vt:lpstr>Generating Load Sweeps</vt:lpstr>
      <vt:lpstr>Sweep geneation</vt:lpstr>
      <vt:lpstr>Using Sweeps</vt:lpstr>
      <vt:lpstr>Plotter</vt:lpstr>
      <vt:lpstr>Plotter Registry</vt:lpstr>
      <vt:lpstr>Plotter Registry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Gomez</dc:creator>
  <cp:lastModifiedBy>Grace Gomez</cp:lastModifiedBy>
  <cp:revision>2</cp:revision>
  <dcterms:created xsi:type="dcterms:W3CDTF">2025-12-02T18:11:25Z</dcterms:created>
  <dcterms:modified xsi:type="dcterms:W3CDTF">2025-12-15T19:57:43Z</dcterms:modified>
</cp:coreProperties>
</file>